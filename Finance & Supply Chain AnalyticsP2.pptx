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37D5E-0E06-4C10-B6E4-B70DD61078B8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7AA78-5FBA-4142-8B00-768CDCD3D1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82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750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06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896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889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740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42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130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519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099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789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393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9534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52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953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332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6362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484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977AF-8BAE-474A-A6CF-90C6CAA8C45C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5D8CE-25D1-493F-AE9A-6927C8009E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84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Finance &amp; Supply Chain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8" y="3602038"/>
            <a:ext cx="8860295" cy="1655762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 smtClean="0"/>
              <a:t> </a:t>
            </a:r>
            <a:r>
              <a:rPr lang="en-IN" b="1" dirty="0" err="1" smtClean="0"/>
              <a:t>AtliQ</a:t>
            </a:r>
            <a:r>
              <a:rPr lang="en-IN" b="1" dirty="0" smtClean="0"/>
              <a:t> </a:t>
            </a:r>
            <a:r>
              <a:rPr lang="en-IN" b="1" dirty="0"/>
              <a:t>Hardware</a:t>
            </a:r>
          </a:p>
          <a:p>
            <a:r>
              <a:rPr lang="en-IN" b="1" dirty="0"/>
              <a:t>SQL / MS-SQL Server Project</a:t>
            </a:r>
            <a:endParaRPr lang="en-IN" dirty="0"/>
          </a:p>
          <a:p>
            <a:r>
              <a:rPr lang="en-IN" b="1" dirty="0"/>
              <a:t>Submitted By: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Vaishnavi</a:t>
            </a:r>
            <a:r>
              <a:rPr lang="en-IN" dirty="0"/>
              <a:t> Patil</a:t>
            </a:r>
          </a:p>
          <a:p>
            <a:r>
              <a:rPr lang="en-IN" b="1" dirty="0"/>
              <a:t>Technology:</a:t>
            </a:r>
            <a:r>
              <a:rPr lang="en-IN" dirty="0"/>
              <a:t> SQL / MS-SQL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129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Finance &amp; Supply Chain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AtliQ</a:t>
            </a:r>
            <a:r>
              <a:rPr lang="en-IN" b="1" dirty="0"/>
              <a:t> Hardware</a:t>
            </a:r>
          </a:p>
          <a:p>
            <a:r>
              <a:rPr lang="en-IN" b="1" dirty="0"/>
              <a:t>SQL / MS-SQL Server Project</a:t>
            </a:r>
            <a:endParaRPr lang="en-IN" dirty="0"/>
          </a:p>
          <a:p>
            <a:r>
              <a:rPr lang="en-IN" b="1" dirty="0"/>
              <a:t>Submitted By:</a:t>
            </a:r>
            <a:r>
              <a:rPr lang="en-IN" dirty="0"/>
              <a:t/>
            </a:r>
            <a:br>
              <a:rPr lang="en-IN" dirty="0"/>
            </a:br>
            <a:r>
              <a:rPr lang="en-IN" dirty="0" err="1"/>
              <a:t>Vaishnavi</a:t>
            </a:r>
            <a:r>
              <a:rPr lang="en-IN" dirty="0"/>
              <a:t> Patil</a:t>
            </a:r>
          </a:p>
          <a:p>
            <a:r>
              <a:rPr lang="en-IN" b="1" dirty="0"/>
              <a:t>Technology:</a:t>
            </a:r>
            <a:r>
              <a:rPr lang="en-IN" dirty="0"/>
              <a:t> SQL / MS-SQL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3376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About </a:t>
            </a:r>
            <a:r>
              <a:rPr lang="en-IN" dirty="0" err="1"/>
              <a:t>AtliQ</a:t>
            </a:r>
            <a:r>
              <a:rPr lang="en-IN" dirty="0"/>
              <a:t> </a:t>
            </a:r>
            <a:r>
              <a:rPr lang="en-IN" dirty="0" smtClean="0"/>
              <a:t>Hardware</a:t>
            </a:r>
          </a:p>
          <a:p>
            <a:r>
              <a:rPr lang="en-US" dirty="0" err="1"/>
              <a:t>AtliQ</a:t>
            </a:r>
            <a:r>
              <a:rPr lang="en-US" dirty="0"/>
              <a:t> Technology operates in the </a:t>
            </a:r>
            <a:r>
              <a:rPr lang="en-US" b="1" dirty="0"/>
              <a:t>hardware manufacturing sector</a:t>
            </a:r>
            <a:r>
              <a:rPr lang="en-US" dirty="0" smtClean="0"/>
              <a:t>.</a:t>
            </a:r>
          </a:p>
          <a:p>
            <a:r>
              <a:rPr lang="en-US" dirty="0"/>
              <a:t>It offers products such as </a:t>
            </a:r>
            <a:r>
              <a:rPr lang="en-US" b="1" dirty="0"/>
              <a:t>mice, keyboards, laptops and </a:t>
            </a:r>
            <a:r>
              <a:rPr lang="en-US" b="1" dirty="0" smtClean="0"/>
              <a:t>printers.</a:t>
            </a:r>
          </a:p>
          <a:p>
            <a:r>
              <a:rPr lang="en-US" dirty="0"/>
              <a:t>Products are distributed through </a:t>
            </a:r>
            <a:r>
              <a:rPr lang="en-US" b="1" dirty="0"/>
              <a:t>Brick &amp; Mortar stores and Online E-Commerce marketplaces</a:t>
            </a:r>
            <a:r>
              <a:rPr lang="en-US" dirty="0" smtClean="0"/>
              <a:t>.</a:t>
            </a:r>
          </a:p>
          <a:p>
            <a:r>
              <a:rPr lang="en-US" dirty="0"/>
              <a:t>The company operates across different countries and markets</a:t>
            </a:r>
            <a:r>
              <a:rPr lang="en-US" dirty="0" smtClean="0"/>
              <a:t>.</a:t>
            </a:r>
          </a:p>
          <a:p>
            <a:r>
              <a:rPr lang="en-US" dirty="0"/>
              <a:t>The analysis focuses on </a:t>
            </a:r>
            <a:r>
              <a:rPr lang="en-US" b="1" dirty="0"/>
              <a:t>sales, products, customers, pricing, costs, forecasts and supply chain data</a:t>
            </a:r>
            <a:r>
              <a:rPr lang="en-US" dirty="0"/>
              <a:t>.</a:t>
            </a:r>
            <a:endParaRPr lang="en-IN" dirty="0" smtClean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128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&amp; Financial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37862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Make a simple flow:</a:t>
            </a:r>
          </a:p>
          <a:p>
            <a:r>
              <a:rPr lang="en-US" b="1" dirty="0"/>
              <a:t>Gross Price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Pre-Invoice Deductions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Net Invoice Sales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Post-Invoice Deductions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Net Sales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COGS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↓</a:t>
            </a:r>
            <a:br>
              <a:rPr lang="en-US" dirty="0"/>
            </a:br>
            <a:r>
              <a:rPr lang="en-US" b="1" dirty="0"/>
              <a:t>Gross Margin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7092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&amp; Data Model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07293" y="2131327"/>
            <a:ext cx="1116676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Created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SupplyChainFinanceManagement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9 Tables</a:t>
            </a: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dim_customer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dim_product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fact_forecast_monthly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fact_freight_cost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fact_gross_price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fact_manufacturing_cost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7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fact_post_invoice_deductions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8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fact_pre_invoice_deductions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9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fact_sales_monthly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tables cover customer, product, forecast, freight, pricing, manufacturing cost, deductions and monthly sales information.</a:t>
            </a:r>
          </a:p>
        </p:txBody>
      </p:sp>
    </p:spTree>
    <p:extLst>
      <p:ext uri="{BB962C8B-B14F-4D97-AF65-F5344CB8AC3E}">
        <p14:creationId xmlns:p14="http://schemas.microsoft.com/office/powerpoint/2010/main" val="3127686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Methodologies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8569" y="1806210"/>
            <a:ext cx="10824212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 Methodology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database and required tables.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Inserted the provided records.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combine related tables.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BY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aggregate functions for business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complex queries.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such as: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RANK()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LAG()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Defined Functions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STRING_AGG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PIVOT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fiscal year logic based on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September–August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9995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Approaches Used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4358663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Sales Analysis</a:t>
            </a:r>
            <a:endParaRPr lang="en-US" dirty="0"/>
          </a:p>
          <a:p>
            <a:r>
              <a:rPr lang="en-US" dirty="0"/>
              <a:t>Monthly sales trends </a:t>
            </a:r>
          </a:p>
          <a:p>
            <a:r>
              <a:rPr lang="en-US" dirty="0"/>
              <a:t>Product performance </a:t>
            </a:r>
          </a:p>
          <a:p>
            <a:r>
              <a:rPr lang="en-US" dirty="0"/>
              <a:t>Channel performance </a:t>
            </a:r>
          </a:p>
          <a:p>
            <a:r>
              <a:rPr lang="en-US" dirty="0"/>
              <a:t>Regional performance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Financial Analysis</a:t>
            </a:r>
            <a:endParaRPr lang="en-US" dirty="0"/>
          </a:p>
          <a:p>
            <a:r>
              <a:rPr lang="en-US" dirty="0"/>
              <a:t>Gross price </a:t>
            </a:r>
          </a:p>
          <a:p>
            <a:r>
              <a:rPr lang="en-US" dirty="0"/>
              <a:t>Manufacturing cost </a:t>
            </a:r>
          </a:p>
          <a:p>
            <a:r>
              <a:rPr lang="en-US" dirty="0"/>
              <a:t>Freight cost </a:t>
            </a:r>
          </a:p>
          <a:p>
            <a:r>
              <a:rPr lang="en-US" dirty="0"/>
              <a:t>Discount analysis </a:t>
            </a:r>
          </a:p>
          <a:p>
            <a:r>
              <a:rPr lang="en-US" dirty="0"/>
              <a:t>Revenue and profitability</a:t>
            </a:r>
          </a:p>
          <a:p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73402" y="2088319"/>
            <a:ext cx="5196561" cy="4432554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Forecast Analysis</a:t>
            </a:r>
            <a:endParaRPr lang="en-US" dirty="0"/>
          </a:p>
          <a:p>
            <a:r>
              <a:rPr lang="en-US" dirty="0"/>
              <a:t>Forecast vs actual sales </a:t>
            </a:r>
          </a:p>
          <a:p>
            <a:r>
              <a:rPr lang="en-US" dirty="0"/>
              <a:t>Forecast accuracy </a:t>
            </a:r>
          </a:p>
          <a:p>
            <a:r>
              <a:rPr lang="en-US" dirty="0"/>
              <a:t>Monthly comparison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dirty="0"/>
              <a:t>Advanced SQL</a:t>
            </a:r>
            <a:endParaRPr lang="en-US" dirty="0"/>
          </a:p>
          <a:p>
            <a:r>
              <a:rPr lang="en-US" dirty="0"/>
              <a:t>UDFs </a:t>
            </a:r>
          </a:p>
          <a:p>
            <a:r>
              <a:rPr lang="en-US" dirty="0"/>
              <a:t>Stored Procedures </a:t>
            </a:r>
          </a:p>
          <a:p>
            <a:r>
              <a:rPr lang="en-US" dirty="0"/>
              <a:t>Triggers </a:t>
            </a:r>
          </a:p>
          <a:p>
            <a:r>
              <a:rPr lang="en-US" dirty="0"/>
              <a:t>Window Functions </a:t>
            </a:r>
          </a:p>
          <a:p>
            <a:r>
              <a:rPr lang="en-US" dirty="0"/>
              <a:t>Pivot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045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44328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Sales &amp; Customer Analysis</a:t>
            </a:r>
          </a:p>
          <a:p>
            <a:r>
              <a:rPr lang="en-US" dirty="0"/>
              <a:t>The analysis provides insights into:</a:t>
            </a:r>
          </a:p>
          <a:p>
            <a:r>
              <a:rPr lang="en-US" dirty="0"/>
              <a:t>Monthly sales movement for different products. </a:t>
            </a:r>
          </a:p>
          <a:p>
            <a:r>
              <a:rPr lang="en-US" dirty="0"/>
              <a:t>Products with higher sales quantity and revenue. </a:t>
            </a:r>
          </a:p>
          <a:p>
            <a:r>
              <a:rPr lang="en-US" dirty="0"/>
              <a:t>Customer purchasing frequency. </a:t>
            </a:r>
          </a:p>
          <a:p>
            <a:r>
              <a:rPr lang="en-US" dirty="0"/>
              <a:t>Sales contribution by channel. </a:t>
            </a:r>
          </a:p>
          <a:p>
            <a:r>
              <a:rPr lang="en-US" dirty="0"/>
              <a:t>Sales distribution across geographical regions. </a:t>
            </a:r>
          </a:p>
          <a:p>
            <a:r>
              <a:rPr lang="en-US" dirty="0"/>
              <a:t>Markets with higher forecasted demand. </a:t>
            </a:r>
          </a:p>
          <a:p>
            <a:r>
              <a:rPr lang="en-US" b="1" dirty="0"/>
              <a:t>Important:</a:t>
            </a:r>
            <a:r>
              <a:rPr lang="en-US" dirty="0"/>
              <a:t> Actual numerical findings depend on the available dataset records used in the SQL analysis.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1323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009172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Product &amp; Cost Analysis</a:t>
            </a:r>
          </a:p>
          <a:p>
            <a:r>
              <a:rPr lang="en-US" dirty="0"/>
              <a:t>Product performance can be compared using </a:t>
            </a:r>
            <a:r>
              <a:rPr lang="en-US" b="1" dirty="0"/>
              <a:t>sales quantity and revenue</a:t>
            </a:r>
            <a:r>
              <a:rPr lang="en-US" dirty="0"/>
              <a:t>. </a:t>
            </a:r>
          </a:p>
          <a:p>
            <a:r>
              <a:rPr lang="en-US" dirty="0"/>
              <a:t>Manufacturing cost can be compared with gross price to estimate product profitability. </a:t>
            </a:r>
          </a:p>
          <a:p>
            <a:r>
              <a:rPr lang="en-US" dirty="0"/>
              <a:t>Freight cost varies by </a:t>
            </a:r>
            <a:r>
              <a:rPr lang="en-US" b="1" dirty="0"/>
              <a:t>market and fiscal year</a:t>
            </a:r>
            <a:r>
              <a:rPr lang="en-US" dirty="0"/>
              <a:t>. </a:t>
            </a:r>
          </a:p>
          <a:p>
            <a:r>
              <a:rPr lang="en-US" dirty="0"/>
              <a:t>Discount analysis helps understand the effect of deductions on sales. </a:t>
            </a:r>
          </a:p>
          <a:p>
            <a:r>
              <a:rPr lang="en-US" dirty="0"/>
              <a:t>Product mix analysis can help identify high-performing and low-performing products. </a:t>
            </a:r>
          </a:p>
          <a:p>
            <a:r>
              <a:rPr lang="en-US" dirty="0"/>
              <a:t>The project defines COGS as including manufacturing cost, freight cost and other expenses/costs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7944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Forecast Accuracy Analysis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424873" y="1552217"/>
            <a:ext cx="10270836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Accuracy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Accuracy % = Actual Sold Quantity / Forecast Quantity × 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044732"/>
              </p:ext>
            </p:extLst>
          </p:nvPr>
        </p:nvGraphicFramePr>
        <p:xfrm>
          <a:off x="711200" y="2380557"/>
          <a:ext cx="10353674" cy="1498715"/>
        </p:xfrm>
        <a:graphic>
          <a:graphicData uri="http://schemas.openxmlformats.org/drawingml/2006/table">
            <a:tbl>
              <a:tblPr/>
              <a:tblGrid>
                <a:gridCol w="5176837">
                  <a:extLst>
                    <a:ext uri="{9D8B030D-6E8A-4147-A177-3AD203B41FA5}">
                      <a16:colId xmlns:a16="http://schemas.microsoft.com/office/drawing/2014/main" val="612924735"/>
                    </a:ext>
                  </a:extLst>
                </a:gridCol>
                <a:gridCol w="5176837">
                  <a:extLst>
                    <a:ext uri="{9D8B030D-6E8A-4147-A177-3AD203B41FA5}">
                      <a16:colId xmlns:a16="http://schemas.microsoft.com/office/drawing/2014/main" val="373428814"/>
                    </a:ext>
                  </a:extLst>
                </a:gridCol>
              </a:tblGrid>
              <a:tr h="397619">
                <a:tc>
                  <a:txBody>
                    <a:bodyPr/>
                    <a:lstStyle/>
                    <a:p>
                      <a:r>
                        <a:rPr lang="en-IN" sz="2000" b="1" dirty="0"/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906644"/>
                  </a:ext>
                </a:extLst>
              </a:tr>
              <a:tr h="367032">
                <a:tc>
                  <a:txBody>
                    <a:bodyPr/>
                    <a:lstStyle/>
                    <a:p>
                      <a:r>
                        <a:rPr lang="en-IN" sz="1800"/>
                        <a:t>Forecast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Expected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044758"/>
                  </a:ext>
                </a:extLst>
              </a:tr>
              <a:tr h="367032">
                <a:tc>
                  <a:txBody>
                    <a:bodyPr/>
                    <a:lstStyle/>
                    <a:p>
                      <a:r>
                        <a:rPr lang="en-IN" sz="1800"/>
                        <a:t>Actual Sold 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Actual 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884218"/>
                  </a:ext>
                </a:extLst>
              </a:tr>
              <a:tr h="367032">
                <a:tc>
                  <a:txBody>
                    <a:bodyPr/>
                    <a:lstStyle/>
                    <a:p>
                      <a:r>
                        <a:rPr lang="en-IN" sz="1800"/>
                        <a:t>Forecast Accuracy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Measures forecast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7434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6665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SQL Implementation</a:t>
            </a:r>
          </a:p>
        </p:txBody>
      </p:sp>
      <p:sp>
        <p:nvSpPr>
          <p:cNvPr id="6" name="Rectangle 1"/>
          <p:cNvSpPr>
            <a:spLocks noGrp="1" noChangeArrowheads="1"/>
          </p:cNvSpPr>
          <p:nvPr>
            <p:ph sz="half" idx="1"/>
          </p:nvPr>
        </p:nvSpPr>
        <p:spPr bwMode="auto">
          <a:xfrm>
            <a:off x="913795" y="2370099"/>
            <a:ext cx="30700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Defined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 quantity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Manufacturing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Freight cost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discount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gross price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sales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calculation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growth report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sz="half" idx="2"/>
          </p:nvPr>
        </p:nvSpPr>
        <p:spPr bwMode="auto">
          <a:xfrm>
            <a:off x="5735782" y="2563651"/>
            <a:ext cx="417483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audit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update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Outlier identification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RANK()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LAG()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345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Actionable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00917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Business Recommendations</a:t>
            </a:r>
          </a:p>
          <a:p>
            <a:r>
              <a:rPr lang="en-US" dirty="0"/>
              <a:t>Monitor products with low sales performance. </a:t>
            </a:r>
          </a:p>
          <a:p>
            <a:r>
              <a:rPr lang="en-US" dirty="0"/>
              <a:t>Improve forecasting for months with large forecast-vs-actual differences. </a:t>
            </a:r>
          </a:p>
          <a:p>
            <a:r>
              <a:rPr lang="en-US" dirty="0"/>
              <a:t>Focus on markets showing stronger forecasted demand. </a:t>
            </a:r>
          </a:p>
          <a:p>
            <a:r>
              <a:rPr lang="en-US" dirty="0"/>
              <a:t>Monitor freight costs across markets and years. </a:t>
            </a:r>
          </a:p>
          <a:p>
            <a:r>
              <a:rPr lang="en-US" dirty="0"/>
              <a:t>Review discount levels to maintain healthy revenue. </a:t>
            </a:r>
          </a:p>
          <a:p>
            <a:r>
              <a:rPr lang="en-US" dirty="0"/>
              <a:t>Identify high-value customers and strengthen customer retention. </a:t>
            </a:r>
          </a:p>
          <a:p>
            <a:r>
              <a:rPr lang="en-US" dirty="0"/>
              <a:t>Optimize inventory using sales and forecast information. </a:t>
            </a:r>
          </a:p>
          <a:p>
            <a:r>
              <a:rPr lang="en-US" dirty="0"/>
              <a:t>Use monthly sales trends for better demand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3480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3"/>
            <a:ext cx="10353762" cy="4332445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Key Insights</a:t>
            </a:r>
          </a:p>
          <a:p>
            <a:r>
              <a:rPr lang="en-US" dirty="0"/>
              <a:t>SQL provides a structured way to analyze </a:t>
            </a:r>
            <a:r>
              <a:rPr lang="en-US" b="1" dirty="0"/>
              <a:t>finance and supply chain data</a:t>
            </a:r>
            <a:r>
              <a:rPr lang="en-US" dirty="0"/>
              <a:t>. </a:t>
            </a:r>
          </a:p>
          <a:p>
            <a:r>
              <a:rPr lang="en-US" dirty="0"/>
              <a:t>Combining sales, customer, product, pricing and cost tables enables deeper business analysis. </a:t>
            </a:r>
          </a:p>
          <a:p>
            <a:r>
              <a:rPr lang="en-US" dirty="0"/>
              <a:t>Forecast accuracy helps identify gaps between expected and actual demand. </a:t>
            </a:r>
          </a:p>
          <a:p>
            <a:r>
              <a:rPr lang="en-US" dirty="0"/>
              <a:t>Advanced SQL features support automation and business reporting. </a:t>
            </a:r>
          </a:p>
          <a:p>
            <a:r>
              <a:rPr lang="en-US" b="1" dirty="0"/>
              <a:t>Conclusion</a:t>
            </a:r>
          </a:p>
          <a:p>
            <a:r>
              <a:rPr lang="en-US" b="1" dirty="0"/>
              <a:t>The project demonstrates how MS-SQL Server can be used to transform raw business data into meaningful financial, sales and supply-chain insights for better decision-making.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475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431" y="101600"/>
            <a:ext cx="10353761" cy="1080655"/>
          </a:xfrm>
        </p:spPr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87099" y="1534277"/>
            <a:ext cx="10622423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MS-SQL Server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Concepts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GROUP BY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Aggregate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Subqueries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Functions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UDF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Stored Procedures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Triggers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PIVOT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STRING_AGG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SupplyChainFinanceManagemen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409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title"/>
          </p:nvPr>
        </p:nvSpPr>
        <p:spPr>
          <a:xfrm>
            <a:off x="480291" y="1921164"/>
            <a:ext cx="11268363" cy="3241963"/>
          </a:xfrm>
        </p:spPr>
        <p:txBody>
          <a:bodyPr>
            <a:normAutofit/>
          </a:bodyPr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30642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69</TotalTime>
  <Words>660</Words>
  <Application>Microsoft Office PowerPoint</Application>
  <PresentationFormat>Widescreen</PresentationFormat>
  <Paragraphs>174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Unicode MS</vt:lpstr>
      <vt:lpstr>Bookman Old Style</vt:lpstr>
      <vt:lpstr>Calibri</vt:lpstr>
      <vt:lpstr>Rockwell</vt:lpstr>
      <vt:lpstr>Wingdings</vt:lpstr>
      <vt:lpstr>Damask</vt:lpstr>
      <vt:lpstr>Finance &amp; Supply Chain Analytics</vt:lpstr>
      <vt:lpstr>Finance &amp; Supply Chain Analytics</vt:lpstr>
      <vt:lpstr>Introduction</vt:lpstr>
      <vt:lpstr>Business &amp; Financial Model</vt:lpstr>
      <vt:lpstr>Database &amp; Data Model</vt:lpstr>
      <vt:lpstr>Methodologies</vt:lpstr>
      <vt:lpstr>Approaches Used</vt:lpstr>
      <vt:lpstr>Key Findings</vt:lpstr>
      <vt:lpstr>Key Findings</vt:lpstr>
      <vt:lpstr>Forecast Accuracy Analysis</vt:lpstr>
      <vt:lpstr>Advanced SQL Implementation</vt:lpstr>
      <vt:lpstr>Actionable Insights</vt:lpstr>
      <vt:lpstr>Insights &amp; Conclusions</vt:lpstr>
      <vt:lpstr>Tools &amp; Technologies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&amp; Supply Chain Analytics</dc:title>
  <dc:creator>Subhash Patil</dc:creator>
  <cp:lastModifiedBy>Subhash Patil</cp:lastModifiedBy>
  <cp:revision>7</cp:revision>
  <dcterms:created xsi:type="dcterms:W3CDTF">2026-10-05T10:43:51Z</dcterms:created>
  <dcterms:modified xsi:type="dcterms:W3CDTF">2026-10-05T11:52:52Z</dcterms:modified>
</cp:coreProperties>
</file>